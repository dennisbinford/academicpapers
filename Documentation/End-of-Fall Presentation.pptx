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Lst>
  <p:sldSz cy="5143500" cx="9144000"/>
  <p:notesSz cx="6858000" cy="9144000"/>
  <p:embeddedFontLst>
    <p:embeddedFont>
      <p:font typeface="Montserrat"/>
      <p:regular r:id="rId14"/>
      <p:bold r:id="rId15"/>
      <p:italic r:id="rId16"/>
      <p:boldItalic r:id="rId17"/>
    </p:embeddedFont>
    <p:embeddedFont>
      <p:font typeface="La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2E86FDD-3846-491B-A638-038BC44EA395}">
  <a:tblStyle styleId="{12E86FDD-3846-491B-A638-038BC44EA39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italic.fntdata"/><Relationship Id="rId11" Type="http://schemas.openxmlformats.org/officeDocument/2006/relationships/slide" Target="slides/slide5.xml"/><Relationship Id="rId10" Type="http://schemas.openxmlformats.org/officeDocument/2006/relationships/slide" Target="slides/slide4.xml"/><Relationship Id="rId21" Type="http://schemas.openxmlformats.org/officeDocument/2006/relationships/font" Target="fonts/Lato-bold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font" Target="fonts/Montserrat-bold.fntdata"/><Relationship Id="rId14" Type="http://schemas.openxmlformats.org/officeDocument/2006/relationships/font" Target="fonts/Montserrat-regular.fntdata"/><Relationship Id="rId17" Type="http://schemas.openxmlformats.org/officeDocument/2006/relationships/font" Target="fonts/Montserrat-boldItalic.fntdata"/><Relationship Id="rId16" Type="http://schemas.openxmlformats.org/officeDocument/2006/relationships/font" Target="fonts/Montserrat-italic.fntdata"/><Relationship Id="rId5" Type="http://schemas.openxmlformats.org/officeDocument/2006/relationships/slideMaster" Target="slideMasters/slideMaster1.xml"/><Relationship Id="rId19" Type="http://schemas.openxmlformats.org/officeDocument/2006/relationships/font" Target="fonts/Lato-bold.fntdata"/><Relationship Id="rId6" Type="http://schemas.openxmlformats.org/officeDocument/2006/relationships/notesMaster" Target="notesMasters/notesMaster1.xml"/><Relationship Id="rId18" Type="http://schemas.openxmlformats.org/officeDocument/2006/relationships/font" Target="fonts/Lato-regular.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1696c6c8c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1696c6c8c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1696c6c8c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1696c6c8c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Lato"/>
                <a:ea typeface="Lato"/>
                <a:cs typeface="Lato"/>
                <a:sym typeface="Lato"/>
              </a:rPr>
              <a:t>Include some Figures here; </a:t>
            </a:r>
            <a:r>
              <a:rPr lang="en" sz="1600">
                <a:solidFill>
                  <a:schemeClr val="dk1"/>
                </a:solidFill>
                <a:latin typeface="Lato"/>
                <a:ea typeface="Lato"/>
                <a:cs typeface="Lato"/>
                <a:sym typeface="Lato"/>
              </a:rPr>
              <a:t>Cooling of a thin-film on a substrate with a different thermal expansion coefficient</a:t>
            </a:r>
            <a:endParaRPr>
              <a:solidFill>
                <a:schemeClr val="dk1"/>
              </a:solidFill>
              <a:latin typeface="Lato"/>
              <a:ea typeface="Lato"/>
              <a:cs typeface="Lato"/>
              <a:sym typeface="La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1696c6c8c4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1696c6c8c4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15f5099b7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15f5099b7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nearly all film </a:t>
            </a:r>
            <a:r>
              <a:rPr lang="en"/>
              <a:t>application</a:t>
            </a:r>
            <a:r>
              <a:rPr lang="en"/>
              <a:t> </a:t>
            </a:r>
            <a:r>
              <a:rPr lang="en"/>
              <a:t>processes, the substrate must be heated for deposition.</a:t>
            </a:r>
            <a:endParaRPr/>
          </a:p>
          <a:p>
            <a:pPr indent="0" lvl="0" marL="0" rtl="0" algn="l">
              <a:spcBef>
                <a:spcPts val="0"/>
              </a:spcBef>
              <a:spcAft>
                <a:spcPts val="0"/>
              </a:spcAft>
              <a:buNone/>
            </a:pPr>
            <a:r>
              <a:rPr lang="en"/>
              <a:t>This causes thermal expansion for both the wafer and the film, and if the thermal expansion is not the same between the two, it causes strain when the materials contract due to cooling</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Another source is the difference in crystal size between the wafer and the film.  At the boundary between the matrix and new growth, the crystal lattices have to align somewhat for the new material to be deposited.  When a crystal with another lattice length is deposited onto a matrix, it becomes either stretched or compressed to fit the same shape as the matrix. This is another source of residual stress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SiO- Silicon monoxide</a:t>
            </a:r>
            <a:endParaRPr/>
          </a:p>
          <a:p>
            <a:pPr indent="0" lvl="0" marL="0" rtl="0" algn="l">
              <a:spcBef>
                <a:spcPts val="0"/>
              </a:spcBef>
              <a:spcAft>
                <a:spcPts val="0"/>
              </a:spcAft>
              <a:buNone/>
            </a:pPr>
            <a:r>
              <a:rPr lang="en"/>
              <a:t>SiN- Silicon nitride</a:t>
            </a:r>
            <a:endParaRPr/>
          </a:p>
          <a:p>
            <a:pPr indent="0" lvl="0" marL="0" rtl="0" algn="l">
              <a:spcBef>
                <a:spcPts val="0"/>
              </a:spcBef>
              <a:spcAft>
                <a:spcPts val="0"/>
              </a:spcAft>
              <a:buNone/>
            </a:pPr>
            <a:br>
              <a:rPr lang="en"/>
            </a:br>
            <a:r>
              <a:rPr lang="en">
                <a:solidFill>
                  <a:schemeClr val="dk1"/>
                </a:solidFill>
              </a:rPr>
              <a:t>LPCVD: Low-Pressure Chemical Vapor Deposition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PECVD: Plasma-Enhanced Chemical Vapor Deposition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MPa: Mega pascales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CVD: High residual stress variability due to temperature and gas flow; Can be tensile or compressive, from tens to hundreds of MPa</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PVD: Lower temperature processes with precise material control allows for lower residual stress</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1696c6c8c4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1696c6c8c4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 Using LPCVD  to deposit Silicon Nitride in a ratio of 1 Si : 1.1 N results in almost zero residual stress</a:t>
            </a:r>
            <a:endParaRPr/>
          </a:p>
          <a:p>
            <a:pPr indent="0" lvl="0" marL="0" rtl="0" algn="l">
              <a:spcBef>
                <a:spcPts val="0"/>
              </a:spcBef>
              <a:spcAft>
                <a:spcPts val="0"/>
              </a:spcAft>
              <a:buNone/>
            </a:pPr>
            <a:r>
              <a:rPr lang="en"/>
              <a:t>LPCVD exhibits low to moderate residual stress depending on temperature</a:t>
            </a:r>
            <a:endParaRPr/>
          </a:p>
          <a:p>
            <a:pPr indent="0" lvl="0" marL="0" rtl="0" algn="l">
              <a:spcBef>
                <a:spcPts val="0"/>
              </a:spcBef>
              <a:spcAft>
                <a:spcPts val="0"/>
              </a:spcAft>
              <a:buNone/>
            </a:pPr>
            <a:r>
              <a:rPr lang="en"/>
              <a:t>Ex. a tensile-stressed silicon nitride deposited between layers of compressively-stressed polysilicon exhibits very little residual stress</a:t>
            </a:r>
            <a:endParaRPr/>
          </a:p>
          <a:p>
            <a:pPr indent="0" lvl="0" marL="0" rtl="0" algn="l">
              <a:spcBef>
                <a:spcPts val="0"/>
              </a:spcBef>
              <a:spcAft>
                <a:spcPts val="0"/>
              </a:spcAft>
              <a:buNone/>
            </a:pPr>
            <a:r>
              <a:rPr lang="en"/>
              <a:t>PECVD and PVD Sputtering have easy-to-manipulate parameters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183960aec1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183960aec1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297900" y="494250"/>
            <a:ext cx="5490300" cy="2586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Residual Stresses in Deposited Thin-Film Material Layers for IC Manufacturing</a:t>
            </a:r>
            <a:endParaRPr/>
          </a:p>
        </p:txBody>
      </p:sp>
      <p:sp>
        <p:nvSpPr>
          <p:cNvPr id="135" name="Google Shape;135;p13"/>
          <p:cNvSpPr txBox="1"/>
          <p:nvPr>
            <p:ph idx="1" type="subTitle"/>
          </p:nvPr>
        </p:nvSpPr>
        <p:spPr>
          <a:xfrm>
            <a:off x="5083950" y="3825475"/>
            <a:ext cx="3470700" cy="729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Undergraduate Fellows: Dennis Binford, Matthew Heilig, Henry Baxter, Gavin Cervantez</a:t>
            </a:r>
            <a:endParaRPr/>
          </a:p>
        </p:txBody>
      </p:sp>
      <p:sp>
        <p:nvSpPr>
          <p:cNvPr id="136" name="Google Shape;136;p13"/>
          <p:cNvSpPr txBox="1"/>
          <p:nvPr/>
        </p:nvSpPr>
        <p:spPr>
          <a:xfrm>
            <a:off x="191725" y="4331550"/>
            <a:ext cx="3402900" cy="7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Samsung Austin Semiconductor Fellowship </a:t>
            </a:r>
            <a:endParaRPr sz="1300">
              <a:solidFill>
                <a:schemeClr val="lt1"/>
              </a:solidFill>
              <a:latin typeface="Lato"/>
              <a:ea typeface="Lato"/>
              <a:cs typeface="Lato"/>
              <a:sym typeface="Lato"/>
            </a:endParaRPr>
          </a:p>
          <a:p>
            <a:pPr indent="0" lvl="0" marL="0" rtl="0" algn="l">
              <a:spcBef>
                <a:spcPts val="0"/>
              </a:spcBef>
              <a:spcAft>
                <a:spcPts val="0"/>
              </a:spcAft>
              <a:buNone/>
            </a:pPr>
            <a:r>
              <a:rPr lang="en" sz="1300">
                <a:solidFill>
                  <a:schemeClr val="lt1"/>
                </a:solidFill>
                <a:latin typeface="Lato"/>
                <a:ea typeface="Lato"/>
                <a:cs typeface="Lato"/>
                <a:sym typeface="Lato"/>
              </a:rPr>
              <a:t>Research Fall 2024</a:t>
            </a:r>
            <a:endParaRPr sz="1300">
              <a:solidFill>
                <a:schemeClr val="lt1"/>
              </a:solidFill>
              <a:latin typeface="Lato"/>
              <a:ea typeface="Lato"/>
              <a:cs typeface="Lato"/>
              <a:sym typeface="Lato"/>
            </a:endParaRPr>
          </a:p>
        </p:txBody>
      </p:sp>
      <p:sp>
        <p:nvSpPr>
          <p:cNvPr id="137" name="Google Shape;137;p13"/>
          <p:cNvSpPr txBox="1"/>
          <p:nvPr>
            <p:ph idx="1" type="subTitle"/>
          </p:nvPr>
        </p:nvSpPr>
        <p:spPr>
          <a:xfrm>
            <a:off x="5083950" y="4681350"/>
            <a:ext cx="34707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Advisor: Dr. Jun Zou</a:t>
            </a:r>
            <a:endParaRPr/>
          </a:p>
        </p:txBody>
      </p:sp>
      <p:sp>
        <p:nvSpPr>
          <p:cNvPr id="138" name="Google Shape;138;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600"/>
              <a:t>Introduction &amp; Outline</a:t>
            </a:r>
            <a:endParaRPr sz="3600"/>
          </a:p>
        </p:txBody>
      </p:sp>
      <p:sp>
        <p:nvSpPr>
          <p:cNvPr id="144" name="Google Shape;144;p14"/>
          <p:cNvSpPr txBox="1"/>
          <p:nvPr>
            <p:ph idx="1" type="body"/>
          </p:nvPr>
        </p:nvSpPr>
        <p:spPr>
          <a:xfrm>
            <a:off x="1297500" y="1957200"/>
            <a:ext cx="7038900" cy="3413400"/>
          </a:xfrm>
          <a:prstGeom prst="rect">
            <a:avLst/>
          </a:prstGeom>
        </p:spPr>
        <p:txBody>
          <a:bodyPr anchorCtr="0" anchor="t" bIns="91425" lIns="91425" spcFirstLastPara="1" rIns="91425" wrap="square" tIns="91425">
            <a:noAutofit/>
          </a:bodyPr>
          <a:lstStyle/>
          <a:p>
            <a:pPr indent="-342900" lvl="0" marL="457200" rtl="0" algn="l">
              <a:lnSpc>
                <a:spcPct val="200000"/>
              </a:lnSpc>
              <a:spcBef>
                <a:spcPts val="0"/>
              </a:spcBef>
              <a:spcAft>
                <a:spcPts val="0"/>
              </a:spcAft>
              <a:buSzPts val="1800"/>
              <a:buChar char="●"/>
            </a:pPr>
            <a:r>
              <a:rPr lang="en" sz="1800"/>
              <a:t>Importance of residual stress in IC manufacturing</a:t>
            </a:r>
            <a:endParaRPr sz="1800"/>
          </a:p>
          <a:p>
            <a:pPr indent="-342900" lvl="0" marL="457200" rtl="0" algn="l">
              <a:lnSpc>
                <a:spcPct val="200000"/>
              </a:lnSpc>
              <a:spcBef>
                <a:spcPts val="0"/>
              </a:spcBef>
              <a:spcAft>
                <a:spcPts val="0"/>
              </a:spcAft>
              <a:buSzPts val="1800"/>
              <a:buChar char="●"/>
            </a:pPr>
            <a:r>
              <a:rPr lang="en" sz="1800"/>
              <a:t>Residual stress measurement methods and results</a:t>
            </a:r>
            <a:endParaRPr sz="1800"/>
          </a:p>
          <a:p>
            <a:pPr indent="-342900" lvl="0" marL="457200" rtl="0" algn="l">
              <a:lnSpc>
                <a:spcPct val="200000"/>
              </a:lnSpc>
              <a:spcBef>
                <a:spcPts val="0"/>
              </a:spcBef>
              <a:spcAft>
                <a:spcPts val="0"/>
              </a:spcAft>
              <a:buSzPts val="1800"/>
              <a:buChar char="●"/>
            </a:pPr>
            <a:r>
              <a:rPr lang="en" sz="1800"/>
              <a:t>Methods to manage and mitigate residual stress</a:t>
            </a:r>
            <a:endParaRPr sz="1800"/>
          </a:p>
          <a:p>
            <a:pPr indent="-342900" lvl="0" marL="457200" rtl="0" algn="l">
              <a:lnSpc>
                <a:spcPct val="200000"/>
              </a:lnSpc>
              <a:spcBef>
                <a:spcPts val="0"/>
              </a:spcBef>
              <a:spcAft>
                <a:spcPts val="0"/>
              </a:spcAft>
              <a:buSzPts val="1800"/>
              <a:buChar char="●"/>
            </a:pPr>
            <a:r>
              <a:rPr lang="en" sz="1800"/>
              <a:t>Milestones achieved and future plans</a:t>
            </a:r>
            <a:endParaRPr sz="1800"/>
          </a:p>
        </p:txBody>
      </p:sp>
      <p:pic>
        <p:nvPicPr>
          <p:cNvPr id="145" name="Google Shape;145;p14"/>
          <p:cNvPicPr preferRelativeResize="0"/>
          <p:nvPr/>
        </p:nvPicPr>
        <p:blipFill>
          <a:blip r:embed="rId3">
            <a:alphaModFix/>
          </a:blip>
          <a:stretch>
            <a:fillRect/>
          </a:stretch>
        </p:blipFill>
        <p:spPr>
          <a:xfrm>
            <a:off x="6625150" y="268125"/>
            <a:ext cx="2393250" cy="1262450"/>
          </a:xfrm>
          <a:prstGeom prst="rect">
            <a:avLst/>
          </a:prstGeom>
          <a:noFill/>
          <a:ln>
            <a:noFill/>
          </a:ln>
        </p:spPr>
      </p:pic>
      <p:sp>
        <p:nvSpPr>
          <p:cNvPr id="146" name="Google Shape;146;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5"/>
          <p:cNvSpPr txBox="1"/>
          <p:nvPr>
            <p:ph type="title"/>
          </p:nvPr>
        </p:nvSpPr>
        <p:spPr>
          <a:xfrm>
            <a:off x="1297500" y="393750"/>
            <a:ext cx="74907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840"/>
              <a:t>Importance of Residual Stress in IC Manufacturing</a:t>
            </a:r>
            <a:endParaRPr sz="2840"/>
          </a:p>
        </p:txBody>
      </p:sp>
      <p:sp>
        <p:nvSpPr>
          <p:cNvPr id="152" name="Google Shape;152;p15"/>
          <p:cNvSpPr txBox="1"/>
          <p:nvPr>
            <p:ph idx="1" type="body"/>
          </p:nvPr>
        </p:nvSpPr>
        <p:spPr>
          <a:xfrm>
            <a:off x="511075" y="1468875"/>
            <a:ext cx="6378900" cy="35190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Intrinsic Stresses</a:t>
            </a:r>
            <a:endParaRPr sz="1600"/>
          </a:p>
          <a:p>
            <a:pPr indent="-330200" lvl="1" marL="914400" rtl="0" algn="l">
              <a:spcBef>
                <a:spcPts val="0"/>
              </a:spcBef>
              <a:spcAft>
                <a:spcPts val="0"/>
              </a:spcAft>
              <a:buSzPts val="1600"/>
              <a:buChar char="○"/>
            </a:pPr>
            <a:r>
              <a:rPr lang="en" sz="1600"/>
              <a:t>Caused by deposition process conditions (e.g., lattice mismatch, grain boundaries)</a:t>
            </a:r>
            <a:endParaRPr sz="1600"/>
          </a:p>
          <a:p>
            <a:pPr indent="-330200" lvl="0" marL="457200" rtl="0" algn="l">
              <a:spcBef>
                <a:spcPts val="0"/>
              </a:spcBef>
              <a:spcAft>
                <a:spcPts val="0"/>
              </a:spcAft>
              <a:buSzPts val="1600"/>
              <a:buChar char="●"/>
            </a:pPr>
            <a:r>
              <a:rPr lang="en" sz="1600"/>
              <a:t>Extrinsic Stresses:</a:t>
            </a:r>
            <a:endParaRPr sz="1600"/>
          </a:p>
          <a:p>
            <a:pPr indent="-330200" lvl="1" marL="914400" rtl="0" algn="l">
              <a:spcBef>
                <a:spcPts val="0"/>
              </a:spcBef>
              <a:spcAft>
                <a:spcPts val="0"/>
              </a:spcAft>
              <a:buSzPts val="1600"/>
              <a:buChar char="○"/>
            </a:pPr>
            <a:r>
              <a:rPr lang="en" sz="1600"/>
              <a:t>Arise from environmental factors (e.g., thermal expansion mismatch)</a:t>
            </a:r>
            <a:endParaRPr sz="1600"/>
          </a:p>
          <a:p>
            <a:pPr indent="-330200" lvl="0" marL="457200" rtl="0" algn="l">
              <a:spcBef>
                <a:spcPts val="0"/>
              </a:spcBef>
              <a:spcAft>
                <a:spcPts val="0"/>
              </a:spcAft>
              <a:buSzPts val="1600"/>
              <a:buChar char="●"/>
            </a:pPr>
            <a:r>
              <a:rPr lang="en" sz="1600"/>
              <a:t>Impact on Device Performance</a:t>
            </a:r>
            <a:endParaRPr sz="1600"/>
          </a:p>
          <a:p>
            <a:pPr indent="-330200" lvl="1" marL="914400" rtl="0" algn="l">
              <a:spcBef>
                <a:spcPts val="0"/>
              </a:spcBef>
              <a:spcAft>
                <a:spcPts val="0"/>
              </a:spcAft>
              <a:buSzPts val="1600"/>
              <a:buChar char="○"/>
            </a:pPr>
            <a:r>
              <a:rPr lang="en" sz="1600"/>
              <a:t>Altered mechanical stiffness </a:t>
            </a:r>
            <a:endParaRPr sz="1600"/>
          </a:p>
          <a:p>
            <a:pPr indent="-330200" lvl="1" marL="914400" rtl="0" algn="l">
              <a:spcBef>
                <a:spcPts val="0"/>
              </a:spcBef>
              <a:spcAft>
                <a:spcPts val="0"/>
              </a:spcAft>
              <a:buSzPts val="1600"/>
              <a:buChar char="○"/>
            </a:pPr>
            <a:r>
              <a:rPr lang="en" sz="1600"/>
              <a:t>Device failures like cracking, buckling, or delamination</a:t>
            </a:r>
            <a:endParaRPr sz="1600"/>
          </a:p>
          <a:p>
            <a:pPr indent="-330200" lvl="1" marL="914400" rtl="0" algn="l">
              <a:spcBef>
                <a:spcPts val="0"/>
              </a:spcBef>
              <a:spcAft>
                <a:spcPts val="0"/>
              </a:spcAft>
              <a:buSzPts val="1600"/>
              <a:buChar char="○"/>
            </a:pPr>
            <a:r>
              <a:rPr lang="en" sz="1600"/>
              <a:t>Strain engineering for device performance improvement</a:t>
            </a:r>
            <a:endParaRPr sz="1600"/>
          </a:p>
        </p:txBody>
      </p:sp>
      <p:pic>
        <p:nvPicPr>
          <p:cNvPr id="153" name="Google Shape;153;p15"/>
          <p:cNvPicPr preferRelativeResize="0"/>
          <p:nvPr/>
        </p:nvPicPr>
        <p:blipFill>
          <a:blip r:embed="rId3">
            <a:alphaModFix/>
          </a:blip>
          <a:stretch>
            <a:fillRect/>
          </a:stretch>
        </p:blipFill>
        <p:spPr>
          <a:xfrm>
            <a:off x="6791938" y="2571749"/>
            <a:ext cx="2225649" cy="2149601"/>
          </a:xfrm>
          <a:prstGeom prst="rect">
            <a:avLst/>
          </a:prstGeom>
          <a:noFill/>
          <a:ln>
            <a:noFill/>
          </a:ln>
        </p:spPr>
      </p:pic>
      <p:pic>
        <p:nvPicPr>
          <p:cNvPr id="154" name="Google Shape;154;p15"/>
          <p:cNvPicPr preferRelativeResize="0"/>
          <p:nvPr/>
        </p:nvPicPr>
        <p:blipFill rotWithShape="1">
          <a:blip r:embed="rId4">
            <a:alphaModFix/>
          </a:blip>
          <a:srcRect b="0" l="8525" r="0" t="0"/>
          <a:stretch/>
        </p:blipFill>
        <p:spPr>
          <a:xfrm>
            <a:off x="7270000" y="912975"/>
            <a:ext cx="1269525" cy="1606800"/>
          </a:xfrm>
          <a:prstGeom prst="rect">
            <a:avLst/>
          </a:prstGeom>
          <a:noFill/>
          <a:ln>
            <a:noFill/>
          </a:ln>
        </p:spPr>
      </p:pic>
      <p:sp>
        <p:nvSpPr>
          <p:cNvPr id="155" name="Google Shape;155;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6"/>
          <p:cNvSpPr txBox="1"/>
          <p:nvPr>
            <p:ph type="title"/>
          </p:nvPr>
        </p:nvSpPr>
        <p:spPr>
          <a:xfrm>
            <a:off x="1297500" y="277850"/>
            <a:ext cx="76542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t>Residual Stress Measurement Methods</a:t>
            </a:r>
            <a:endParaRPr sz="3600"/>
          </a:p>
        </p:txBody>
      </p:sp>
      <p:sp>
        <p:nvSpPr>
          <p:cNvPr id="161" name="Google Shape;161;p16"/>
          <p:cNvSpPr txBox="1"/>
          <p:nvPr>
            <p:ph idx="1" type="body"/>
          </p:nvPr>
        </p:nvSpPr>
        <p:spPr>
          <a:xfrm>
            <a:off x="1297500" y="1567550"/>
            <a:ext cx="6233100" cy="29112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sz="1600"/>
              <a:t>Wafer Curvature Measurement</a:t>
            </a:r>
            <a:endParaRPr sz="1600"/>
          </a:p>
          <a:p>
            <a:pPr indent="-330200" lvl="1" marL="914400" rtl="0" algn="l">
              <a:spcBef>
                <a:spcPts val="0"/>
              </a:spcBef>
              <a:spcAft>
                <a:spcPts val="0"/>
              </a:spcAft>
              <a:buSzPts val="1600"/>
              <a:buChar char="○"/>
            </a:pPr>
            <a:r>
              <a:rPr lang="en" sz="1600"/>
              <a:t>Stoney equation for calculating stress from curvature</a:t>
            </a:r>
            <a:endParaRPr sz="1600"/>
          </a:p>
          <a:p>
            <a:pPr indent="-330200" lvl="0" marL="457200" rtl="0" algn="l">
              <a:spcBef>
                <a:spcPts val="0"/>
              </a:spcBef>
              <a:spcAft>
                <a:spcPts val="0"/>
              </a:spcAft>
              <a:buSzPts val="1600"/>
              <a:buChar char="●"/>
            </a:pPr>
            <a:r>
              <a:rPr lang="en" sz="1600"/>
              <a:t>Test Structures</a:t>
            </a:r>
            <a:endParaRPr sz="1600"/>
          </a:p>
          <a:p>
            <a:pPr indent="-330200" lvl="1" marL="914400" rtl="0" algn="l">
              <a:spcBef>
                <a:spcPts val="0"/>
              </a:spcBef>
              <a:spcAft>
                <a:spcPts val="0"/>
              </a:spcAft>
              <a:buSzPts val="1600"/>
              <a:buChar char="○"/>
            </a:pPr>
            <a:r>
              <a:rPr lang="en" sz="1600"/>
              <a:t>Buckling beams, Guckel rings, and strain-based tests</a:t>
            </a:r>
            <a:endParaRPr sz="1600"/>
          </a:p>
          <a:p>
            <a:pPr indent="0" lvl="0" marL="0" rtl="0" algn="l">
              <a:spcBef>
                <a:spcPts val="1200"/>
              </a:spcBef>
              <a:spcAft>
                <a:spcPts val="0"/>
              </a:spcAft>
              <a:buNone/>
            </a:pPr>
            <a:r>
              <a:t/>
            </a:r>
            <a:endParaRPr sz="1600"/>
          </a:p>
          <a:p>
            <a:pPr indent="0" lvl="0" marL="457200" rtl="0" algn="l">
              <a:spcBef>
                <a:spcPts val="1200"/>
              </a:spcBef>
              <a:spcAft>
                <a:spcPts val="1200"/>
              </a:spcAft>
              <a:buNone/>
            </a:pPr>
            <a:r>
              <a:t/>
            </a:r>
            <a:endParaRPr sz="1600"/>
          </a:p>
        </p:txBody>
      </p:sp>
      <p:pic>
        <p:nvPicPr>
          <p:cNvPr id="162" name="Google Shape;162;p16"/>
          <p:cNvPicPr preferRelativeResize="0"/>
          <p:nvPr/>
        </p:nvPicPr>
        <p:blipFill>
          <a:blip r:embed="rId3">
            <a:alphaModFix/>
          </a:blip>
          <a:stretch>
            <a:fillRect/>
          </a:stretch>
        </p:blipFill>
        <p:spPr>
          <a:xfrm>
            <a:off x="4831925" y="2782775"/>
            <a:ext cx="2783150" cy="2242850"/>
          </a:xfrm>
          <a:prstGeom prst="rect">
            <a:avLst/>
          </a:prstGeom>
          <a:noFill/>
          <a:ln>
            <a:noFill/>
          </a:ln>
        </p:spPr>
      </p:pic>
      <p:pic>
        <p:nvPicPr>
          <p:cNvPr id="163" name="Google Shape;163;p16"/>
          <p:cNvPicPr preferRelativeResize="0"/>
          <p:nvPr/>
        </p:nvPicPr>
        <p:blipFill>
          <a:blip r:embed="rId4">
            <a:alphaModFix/>
          </a:blip>
          <a:stretch>
            <a:fillRect/>
          </a:stretch>
        </p:blipFill>
        <p:spPr>
          <a:xfrm>
            <a:off x="1213025" y="2782775"/>
            <a:ext cx="3088963" cy="2242850"/>
          </a:xfrm>
          <a:prstGeom prst="rect">
            <a:avLst/>
          </a:prstGeom>
          <a:noFill/>
          <a:ln>
            <a:noFill/>
          </a:ln>
        </p:spPr>
      </p:pic>
      <p:sp>
        <p:nvSpPr>
          <p:cNvPr id="164" name="Google Shape;1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7"/>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Residual Stress Level in Typical Thin-Films for Semiconductor Fabrication</a:t>
            </a:r>
            <a:endParaRPr/>
          </a:p>
        </p:txBody>
      </p:sp>
      <p:graphicFrame>
        <p:nvGraphicFramePr>
          <p:cNvPr id="170" name="Google Shape;170;p17"/>
          <p:cNvGraphicFramePr/>
          <p:nvPr/>
        </p:nvGraphicFramePr>
        <p:xfrm>
          <a:off x="1602925" y="1229925"/>
          <a:ext cx="3000000" cy="3000000"/>
        </p:xfrm>
        <a:graphic>
          <a:graphicData uri="http://schemas.openxmlformats.org/drawingml/2006/table">
            <a:tbl>
              <a:tblPr>
                <a:noFill/>
                <a:tableStyleId>{12E86FDD-3846-491B-A638-038BC44EA395}</a:tableStyleId>
              </a:tblPr>
              <a:tblGrid>
                <a:gridCol w="1979375"/>
                <a:gridCol w="1979375"/>
                <a:gridCol w="1979375"/>
              </a:tblGrid>
              <a:tr h="588475">
                <a:tc>
                  <a:txBody>
                    <a:bodyPr/>
                    <a:lstStyle/>
                    <a:p>
                      <a:pPr indent="0" lvl="0" marL="0" rtl="0" algn="ctr">
                        <a:spcBef>
                          <a:spcPts val="0"/>
                        </a:spcBef>
                        <a:spcAft>
                          <a:spcPts val="0"/>
                        </a:spcAft>
                        <a:buNone/>
                      </a:pPr>
                      <a:r>
                        <a:rPr lang="en" sz="1200">
                          <a:solidFill>
                            <a:schemeClr val="lt1"/>
                          </a:solidFill>
                        </a:rPr>
                        <a:t>Material</a:t>
                      </a:r>
                      <a:endParaRPr sz="1200">
                        <a:solidFill>
                          <a:schemeClr val="lt1"/>
                        </a:solidFill>
                      </a:endParaRPr>
                    </a:p>
                  </a:txBody>
                  <a:tcPr marT="91425" marB="91425" marR="91425" marL="91425"/>
                </a:tc>
                <a:tc>
                  <a:txBody>
                    <a:bodyPr/>
                    <a:lstStyle/>
                    <a:p>
                      <a:pPr indent="0" lvl="0" marL="0" rtl="0" algn="ctr">
                        <a:spcBef>
                          <a:spcPts val="0"/>
                        </a:spcBef>
                        <a:spcAft>
                          <a:spcPts val="0"/>
                        </a:spcAft>
                        <a:buNone/>
                      </a:pPr>
                      <a:r>
                        <a:rPr lang="en" sz="1200">
                          <a:solidFill>
                            <a:schemeClr val="lt1"/>
                          </a:solidFill>
                        </a:rPr>
                        <a:t>Chemical Vapor Deposition</a:t>
                      </a:r>
                      <a:endParaRPr sz="1200">
                        <a:solidFill>
                          <a:schemeClr val="lt1"/>
                        </a:solidFill>
                      </a:endParaRPr>
                    </a:p>
                  </a:txBody>
                  <a:tcPr marT="91425" marB="91425" marR="91425" marL="91425"/>
                </a:tc>
                <a:tc>
                  <a:txBody>
                    <a:bodyPr/>
                    <a:lstStyle/>
                    <a:p>
                      <a:pPr indent="0" lvl="0" marL="0" rtl="0" algn="ctr">
                        <a:spcBef>
                          <a:spcPts val="0"/>
                        </a:spcBef>
                        <a:spcAft>
                          <a:spcPts val="0"/>
                        </a:spcAft>
                        <a:buNone/>
                      </a:pPr>
                      <a:r>
                        <a:rPr lang="en" sz="1200">
                          <a:solidFill>
                            <a:schemeClr val="lt1"/>
                          </a:solidFill>
                        </a:rPr>
                        <a:t>Physical Vapor Deposition</a:t>
                      </a:r>
                      <a:endParaRPr sz="1200">
                        <a:solidFill>
                          <a:schemeClr val="lt1"/>
                        </a:solidFill>
                      </a:endParaRPr>
                    </a:p>
                  </a:txBody>
                  <a:tcPr marT="91425" marB="91425" marR="91425" marL="91425"/>
                </a:tc>
              </a:tr>
              <a:tr h="392300">
                <a:tc>
                  <a:txBody>
                    <a:bodyPr/>
                    <a:lstStyle/>
                    <a:p>
                      <a:pPr indent="0" lvl="0" marL="0" rtl="0" algn="ctr">
                        <a:spcBef>
                          <a:spcPts val="0"/>
                        </a:spcBef>
                        <a:spcAft>
                          <a:spcPts val="0"/>
                        </a:spcAft>
                        <a:buNone/>
                      </a:pPr>
                      <a:r>
                        <a:rPr lang="en" sz="1200">
                          <a:solidFill>
                            <a:schemeClr val="lt1"/>
                          </a:solidFill>
                        </a:rPr>
                        <a:t>Polysilicon </a:t>
                      </a:r>
                      <a:endParaRPr sz="1200">
                        <a:solidFill>
                          <a:schemeClr val="lt1"/>
                        </a:solidFill>
                      </a:endParaRPr>
                    </a:p>
                  </a:txBody>
                  <a:tcPr marT="91425" marB="91425" marR="91425" marL="91425"/>
                </a:tc>
                <a:tc>
                  <a:txBody>
                    <a:bodyPr/>
                    <a:lstStyle/>
                    <a:p>
                      <a:pPr indent="0" lvl="0" marL="0" rtl="0" algn="ctr">
                        <a:spcBef>
                          <a:spcPts val="0"/>
                        </a:spcBef>
                        <a:spcAft>
                          <a:spcPts val="0"/>
                        </a:spcAft>
                        <a:buNone/>
                      </a:pPr>
                      <a:r>
                        <a:rPr lang="en" sz="1200">
                          <a:solidFill>
                            <a:schemeClr val="lt1"/>
                          </a:solidFill>
                        </a:rPr>
                        <a:t>LPCVD: </a:t>
                      </a:r>
                      <a:r>
                        <a:rPr lang="en" sz="1200">
                          <a:solidFill>
                            <a:schemeClr val="lt1"/>
                          </a:solidFill>
                        </a:rPr>
                        <a:t>-340 to 1750 MPa</a:t>
                      </a:r>
                      <a:endParaRPr sz="1200">
                        <a:solidFill>
                          <a:schemeClr val="lt1"/>
                        </a:solidFill>
                      </a:endParaRPr>
                    </a:p>
                  </a:txBody>
                  <a:tcPr marT="91425" marB="91425" marR="91425" marL="91425"/>
                </a:tc>
                <a:tc>
                  <a:txBody>
                    <a:bodyPr/>
                    <a:lstStyle/>
                    <a:p>
                      <a:pPr indent="0" lvl="0" marL="0" rtl="0" algn="ctr">
                        <a:spcBef>
                          <a:spcPts val="0"/>
                        </a:spcBef>
                        <a:spcAft>
                          <a:spcPts val="0"/>
                        </a:spcAft>
                        <a:buNone/>
                      </a:pPr>
                      <a:r>
                        <a:rPr lang="en" sz="1200">
                          <a:solidFill>
                            <a:schemeClr val="lt1"/>
                          </a:solidFill>
                        </a:rPr>
                        <a:t>N/A</a:t>
                      </a:r>
                      <a:endParaRPr sz="1200">
                        <a:solidFill>
                          <a:schemeClr val="lt1"/>
                        </a:solidFill>
                      </a:endParaRPr>
                    </a:p>
                  </a:txBody>
                  <a:tcPr marT="91425" marB="91425" marR="91425" marL="91425"/>
                </a:tc>
              </a:tr>
              <a:tr h="588475">
                <a:tc>
                  <a:txBody>
                    <a:bodyPr/>
                    <a:lstStyle/>
                    <a:p>
                      <a:pPr indent="0" lvl="0" marL="0" rtl="0" algn="ctr">
                        <a:spcBef>
                          <a:spcPts val="0"/>
                        </a:spcBef>
                        <a:spcAft>
                          <a:spcPts val="0"/>
                        </a:spcAft>
                        <a:buNone/>
                      </a:pPr>
                      <a:r>
                        <a:rPr lang="en" sz="1200">
                          <a:solidFill>
                            <a:schemeClr val="lt1"/>
                          </a:solidFill>
                        </a:rPr>
                        <a:t>Amorphous Silicon</a:t>
                      </a:r>
                      <a:endParaRPr sz="1200">
                        <a:solidFill>
                          <a:schemeClr val="lt1"/>
                        </a:solidFill>
                      </a:endParaRPr>
                    </a:p>
                    <a:p>
                      <a:pPr indent="0" lvl="0" marL="0" rtl="0" algn="ctr">
                        <a:spcBef>
                          <a:spcPts val="0"/>
                        </a:spcBef>
                        <a:spcAft>
                          <a:spcPts val="0"/>
                        </a:spcAft>
                        <a:buNone/>
                      </a:pPr>
                      <a:r>
                        <a:t/>
                      </a:r>
                      <a:endParaRPr sz="1200">
                        <a:solidFill>
                          <a:schemeClr val="lt1"/>
                        </a:solidFill>
                      </a:endParaRPr>
                    </a:p>
                  </a:txBody>
                  <a:tcPr marT="91425" marB="91425" marR="91425" marL="91425"/>
                </a:tc>
                <a:tc>
                  <a:txBody>
                    <a:bodyPr/>
                    <a:lstStyle/>
                    <a:p>
                      <a:pPr indent="0" lvl="0" marL="0" rtl="0" algn="ctr">
                        <a:spcBef>
                          <a:spcPts val="0"/>
                        </a:spcBef>
                        <a:spcAft>
                          <a:spcPts val="0"/>
                        </a:spcAft>
                        <a:buNone/>
                      </a:pPr>
                      <a:r>
                        <a:rPr lang="en" sz="1200">
                          <a:solidFill>
                            <a:schemeClr val="lt1"/>
                          </a:solidFill>
                        </a:rPr>
                        <a:t>PECVD: -575 to -130 MPa</a:t>
                      </a:r>
                      <a:endParaRPr sz="1200">
                        <a:solidFill>
                          <a:schemeClr val="lt1"/>
                        </a:solidFill>
                      </a:endParaRPr>
                    </a:p>
                  </a:txBody>
                  <a:tcPr marT="91425" marB="91425" marR="91425" marL="91425"/>
                </a:tc>
                <a:tc>
                  <a:txBody>
                    <a:bodyPr/>
                    <a:lstStyle/>
                    <a:p>
                      <a:pPr indent="0" lvl="0" marL="0" rtl="0" algn="ctr">
                        <a:spcBef>
                          <a:spcPts val="0"/>
                        </a:spcBef>
                        <a:spcAft>
                          <a:spcPts val="0"/>
                        </a:spcAft>
                        <a:buNone/>
                      </a:pPr>
                      <a:r>
                        <a:rPr lang="en" sz="1200">
                          <a:solidFill>
                            <a:schemeClr val="lt1"/>
                          </a:solidFill>
                          <a:latin typeface="Lato"/>
                          <a:ea typeface="Lato"/>
                          <a:cs typeface="Lato"/>
                          <a:sym typeface="Lato"/>
                        </a:rPr>
                        <a:t>Evaporation: 300 MPa </a:t>
                      </a:r>
                      <a:endParaRPr sz="1200">
                        <a:solidFill>
                          <a:schemeClr val="lt1"/>
                        </a:solidFill>
                        <a:latin typeface="Lato"/>
                        <a:ea typeface="Lato"/>
                        <a:cs typeface="Lato"/>
                        <a:sym typeface="Lato"/>
                      </a:endParaRPr>
                    </a:p>
                    <a:p>
                      <a:pPr indent="0" lvl="0" marL="0" rtl="0" algn="ctr">
                        <a:spcBef>
                          <a:spcPts val="0"/>
                        </a:spcBef>
                        <a:spcAft>
                          <a:spcPts val="0"/>
                        </a:spcAft>
                        <a:buNone/>
                      </a:pPr>
                      <a:r>
                        <a:rPr lang="en" sz="1200">
                          <a:solidFill>
                            <a:schemeClr val="lt1"/>
                          </a:solidFill>
                          <a:latin typeface="Lato"/>
                          <a:ea typeface="Lato"/>
                          <a:cs typeface="Lato"/>
                          <a:sym typeface="Lato"/>
                        </a:rPr>
                        <a:t>Sputter: -22 to 164 MPa</a:t>
                      </a:r>
                      <a:endParaRPr sz="1200">
                        <a:solidFill>
                          <a:schemeClr val="lt1"/>
                        </a:solidFill>
                        <a:latin typeface="Lato"/>
                        <a:ea typeface="Lato"/>
                        <a:cs typeface="Lato"/>
                        <a:sym typeface="Lato"/>
                      </a:endParaRPr>
                    </a:p>
                  </a:txBody>
                  <a:tcPr marT="91425" marB="91425" marR="91425" marL="91425"/>
                </a:tc>
              </a:tr>
              <a:tr h="588475">
                <a:tc>
                  <a:txBody>
                    <a:bodyPr/>
                    <a:lstStyle/>
                    <a:p>
                      <a:pPr indent="0" lvl="0" marL="0" rtl="0" algn="ctr">
                        <a:spcBef>
                          <a:spcPts val="0"/>
                        </a:spcBef>
                        <a:spcAft>
                          <a:spcPts val="0"/>
                        </a:spcAft>
                        <a:buNone/>
                      </a:pPr>
                      <a:r>
                        <a:rPr lang="en" sz="1200">
                          <a:solidFill>
                            <a:schemeClr val="lt1"/>
                          </a:solidFill>
                        </a:rPr>
                        <a:t>SiO</a:t>
                      </a:r>
                      <a:endParaRPr sz="1200">
                        <a:solidFill>
                          <a:schemeClr val="lt1"/>
                        </a:solidFill>
                      </a:endParaRPr>
                    </a:p>
                  </a:txBody>
                  <a:tcPr marT="91425" marB="91425" marR="91425" marL="91425"/>
                </a:tc>
                <a:tc>
                  <a:txBody>
                    <a:bodyPr/>
                    <a:lstStyle/>
                    <a:p>
                      <a:pPr indent="0" lvl="0" marL="0" rtl="0" algn="ctr">
                        <a:spcBef>
                          <a:spcPts val="0"/>
                        </a:spcBef>
                        <a:spcAft>
                          <a:spcPts val="0"/>
                        </a:spcAft>
                        <a:buNone/>
                      </a:pPr>
                      <a:r>
                        <a:rPr lang="en" sz="1200">
                          <a:solidFill>
                            <a:schemeClr val="lt1"/>
                          </a:solidFill>
                        </a:rPr>
                        <a:t>LPCVD: -10 to 200 MPa</a:t>
                      </a:r>
                      <a:endParaRPr sz="1200">
                        <a:solidFill>
                          <a:schemeClr val="lt1"/>
                        </a:solidFill>
                      </a:endParaRPr>
                    </a:p>
                    <a:p>
                      <a:pPr indent="0" lvl="0" marL="0" rtl="0" algn="ctr">
                        <a:spcBef>
                          <a:spcPts val="0"/>
                        </a:spcBef>
                        <a:spcAft>
                          <a:spcPts val="0"/>
                        </a:spcAft>
                        <a:buNone/>
                      </a:pPr>
                      <a:r>
                        <a:rPr lang="en" sz="1200">
                          <a:solidFill>
                            <a:schemeClr val="lt1"/>
                          </a:solidFill>
                        </a:rPr>
                        <a:t>PECVD: -80 to -25 MPa</a:t>
                      </a:r>
                      <a:endParaRPr sz="1200">
                        <a:solidFill>
                          <a:schemeClr val="lt1"/>
                        </a:solidFill>
                      </a:endParaRPr>
                    </a:p>
                  </a:txBody>
                  <a:tcPr marT="91425" marB="91425" marR="91425" marL="91425"/>
                </a:tc>
                <a:tc>
                  <a:txBody>
                    <a:bodyPr/>
                    <a:lstStyle/>
                    <a:p>
                      <a:pPr indent="0" lvl="0" marL="0" rtl="0" algn="ctr">
                        <a:spcBef>
                          <a:spcPts val="0"/>
                        </a:spcBef>
                        <a:spcAft>
                          <a:spcPts val="0"/>
                        </a:spcAft>
                        <a:buNone/>
                      </a:pPr>
                      <a:r>
                        <a:rPr lang="en" sz="1200">
                          <a:solidFill>
                            <a:schemeClr val="lt1"/>
                          </a:solidFill>
                        </a:rPr>
                        <a:t>Sputter: -90 to 3000 MPa</a:t>
                      </a:r>
                      <a:endParaRPr sz="1200">
                        <a:solidFill>
                          <a:schemeClr val="lt1"/>
                        </a:solidFill>
                      </a:endParaRPr>
                    </a:p>
                  </a:txBody>
                  <a:tcPr marT="91425" marB="91425" marR="91425" marL="91425"/>
                </a:tc>
              </a:tr>
              <a:tr h="588475">
                <a:tc>
                  <a:txBody>
                    <a:bodyPr/>
                    <a:lstStyle/>
                    <a:p>
                      <a:pPr indent="0" lvl="0" marL="0" rtl="0" algn="ctr">
                        <a:spcBef>
                          <a:spcPts val="0"/>
                        </a:spcBef>
                        <a:spcAft>
                          <a:spcPts val="0"/>
                        </a:spcAft>
                        <a:buNone/>
                      </a:pPr>
                      <a:r>
                        <a:rPr lang="en" sz="1200">
                          <a:solidFill>
                            <a:schemeClr val="lt1"/>
                          </a:solidFill>
                        </a:rPr>
                        <a:t>SiN</a:t>
                      </a:r>
                      <a:endParaRPr sz="1200">
                        <a:solidFill>
                          <a:schemeClr val="lt1"/>
                        </a:solidFill>
                      </a:endParaRPr>
                    </a:p>
                  </a:txBody>
                  <a:tcPr marT="91425" marB="91425" marR="91425" marL="91425"/>
                </a:tc>
                <a:tc>
                  <a:txBody>
                    <a:bodyPr/>
                    <a:lstStyle/>
                    <a:p>
                      <a:pPr indent="0" lvl="0" marL="0" rtl="0" algn="ctr">
                        <a:spcBef>
                          <a:spcPts val="0"/>
                        </a:spcBef>
                        <a:spcAft>
                          <a:spcPts val="0"/>
                        </a:spcAft>
                        <a:buNone/>
                      </a:pPr>
                      <a:r>
                        <a:rPr lang="en" sz="1200">
                          <a:solidFill>
                            <a:schemeClr val="lt1"/>
                          </a:solidFill>
                        </a:rPr>
                        <a:t>LPCVD: 967 to 1020 MPa</a:t>
                      </a:r>
                      <a:endParaRPr sz="1200">
                        <a:solidFill>
                          <a:schemeClr val="lt1"/>
                        </a:solidFill>
                      </a:endParaRPr>
                    </a:p>
                    <a:p>
                      <a:pPr indent="0" lvl="0" marL="0" rtl="0" algn="ctr">
                        <a:spcBef>
                          <a:spcPts val="0"/>
                        </a:spcBef>
                        <a:spcAft>
                          <a:spcPts val="0"/>
                        </a:spcAft>
                        <a:buNone/>
                      </a:pPr>
                      <a:r>
                        <a:rPr lang="en" sz="1200">
                          <a:solidFill>
                            <a:schemeClr val="lt1"/>
                          </a:solidFill>
                        </a:rPr>
                        <a:t>PECVD: -250 to 375 MPa</a:t>
                      </a:r>
                      <a:endParaRPr sz="1200">
                        <a:solidFill>
                          <a:schemeClr val="lt1"/>
                        </a:solidFill>
                      </a:endParaRPr>
                    </a:p>
                  </a:txBody>
                  <a:tcPr marT="91425" marB="91425" marR="91425" marL="91425"/>
                </a:tc>
                <a:tc>
                  <a:txBody>
                    <a:bodyPr/>
                    <a:lstStyle/>
                    <a:p>
                      <a:pPr indent="0" lvl="0" marL="0" rtl="0" algn="ctr">
                        <a:spcBef>
                          <a:spcPts val="0"/>
                        </a:spcBef>
                        <a:spcAft>
                          <a:spcPts val="0"/>
                        </a:spcAft>
                        <a:buNone/>
                      </a:pPr>
                      <a:r>
                        <a:rPr lang="en" sz="1200">
                          <a:solidFill>
                            <a:schemeClr val="lt1"/>
                          </a:solidFill>
                        </a:rPr>
                        <a:t>N/A</a:t>
                      </a:r>
                      <a:endParaRPr sz="1200">
                        <a:solidFill>
                          <a:schemeClr val="lt1"/>
                        </a:solidFill>
                      </a:endParaRPr>
                    </a:p>
                  </a:txBody>
                  <a:tcPr marT="91425" marB="91425" marR="91425" marL="91425"/>
                </a:tc>
              </a:tr>
              <a:tr h="392300">
                <a:tc>
                  <a:txBody>
                    <a:bodyPr/>
                    <a:lstStyle/>
                    <a:p>
                      <a:pPr indent="0" lvl="0" marL="0" rtl="0" algn="ctr">
                        <a:spcBef>
                          <a:spcPts val="0"/>
                        </a:spcBef>
                        <a:spcAft>
                          <a:spcPts val="0"/>
                        </a:spcAft>
                        <a:buNone/>
                      </a:pPr>
                      <a:r>
                        <a:rPr lang="en" sz="1200">
                          <a:solidFill>
                            <a:schemeClr val="lt1"/>
                          </a:solidFill>
                        </a:rPr>
                        <a:t>Metals</a:t>
                      </a:r>
                      <a:endParaRPr sz="1200">
                        <a:solidFill>
                          <a:schemeClr val="lt1"/>
                        </a:solidFill>
                      </a:endParaRPr>
                    </a:p>
                  </a:txBody>
                  <a:tcPr marT="91425" marB="91425" marR="91425" marL="91425"/>
                </a:tc>
                <a:tc>
                  <a:txBody>
                    <a:bodyPr/>
                    <a:lstStyle/>
                    <a:p>
                      <a:pPr indent="0" lvl="0" marL="0" rtl="0" algn="ctr">
                        <a:spcBef>
                          <a:spcPts val="0"/>
                        </a:spcBef>
                        <a:spcAft>
                          <a:spcPts val="0"/>
                        </a:spcAft>
                        <a:buNone/>
                      </a:pPr>
                      <a:r>
                        <a:rPr lang="en" sz="1200">
                          <a:solidFill>
                            <a:schemeClr val="lt1"/>
                          </a:solidFill>
                        </a:rPr>
                        <a:t>N/A</a:t>
                      </a:r>
                      <a:endParaRPr sz="1200">
                        <a:solidFill>
                          <a:schemeClr val="lt1"/>
                        </a:solidFill>
                      </a:endParaRPr>
                    </a:p>
                  </a:txBody>
                  <a:tcPr marT="91425" marB="91425" marR="91425" marL="91425"/>
                </a:tc>
                <a:tc>
                  <a:txBody>
                    <a:bodyPr/>
                    <a:lstStyle/>
                    <a:p>
                      <a:pPr indent="0" lvl="0" marL="0" rtl="0" algn="ctr">
                        <a:spcBef>
                          <a:spcPts val="0"/>
                        </a:spcBef>
                        <a:spcAft>
                          <a:spcPts val="0"/>
                        </a:spcAft>
                        <a:buNone/>
                      </a:pPr>
                      <a:r>
                        <a:rPr lang="en" sz="1200">
                          <a:solidFill>
                            <a:schemeClr val="lt1"/>
                          </a:solidFill>
                        </a:rPr>
                        <a:t>Evaporation: Varied</a:t>
                      </a:r>
                      <a:endParaRPr sz="1200">
                        <a:solidFill>
                          <a:schemeClr val="lt1"/>
                        </a:solidFill>
                      </a:endParaRPr>
                    </a:p>
                  </a:txBody>
                  <a:tcPr marT="91425" marB="91425" marR="91425" marL="91425"/>
                </a:tc>
              </a:tr>
              <a:tr h="392300">
                <a:tc>
                  <a:txBody>
                    <a:bodyPr/>
                    <a:lstStyle/>
                    <a:p>
                      <a:pPr indent="0" lvl="0" marL="0" rtl="0" algn="ctr">
                        <a:spcBef>
                          <a:spcPts val="0"/>
                        </a:spcBef>
                        <a:spcAft>
                          <a:spcPts val="0"/>
                        </a:spcAft>
                        <a:buNone/>
                      </a:pPr>
                      <a:r>
                        <a:rPr lang="en" sz="1200">
                          <a:solidFill>
                            <a:schemeClr val="lt1"/>
                          </a:solidFill>
                        </a:rPr>
                        <a:t>Takeaways</a:t>
                      </a:r>
                      <a:endParaRPr sz="1200">
                        <a:solidFill>
                          <a:schemeClr val="lt1"/>
                        </a:solidFill>
                      </a:endParaRPr>
                    </a:p>
                  </a:txBody>
                  <a:tcPr marT="91425" marB="91425" marR="91425" marL="91425"/>
                </a:tc>
                <a:tc>
                  <a:txBody>
                    <a:bodyPr/>
                    <a:lstStyle/>
                    <a:p>
                      <a:pPr indent="0" lvl="0" marL="0" rtl="0" algn="ctr">
                        <a:lnSpc>
                          <a:spcPct val="95000"/>
                        </a:lnSpc>
                        <a:spcBef>
                          <a:spcPts val="0"/>
                        </a:spcBef>
                        <a:spcAft>
                          <a:spcPts val="1200"/>
                        </a:spcAft>
                        <a:buNone/>
                      </a:pPr>
                      <a:r>
                        <a:rPr lang="en" sz="1300">
                          <a:solidFill>
                            <a:schemeClr val="lt1"/>
                          </a:solidFill>
                          <a:latin typeface="Lato"/>
                          <a:ea typeface="Lato"/>
                          <a:cs typeface="Lato"/>
                          <a:sym typeface="Lato"/>
                        </a:rPr>
                        <a:t>High residual stress variability </a:t>
                      </a:r>
                      <a:endParaRPr sz="1200">
                        <a:solidFill>
                          <a:schemeClr val="lt1"/>
                        </a:solidFill>
                      </a:endParaRPr>
                    </a:p>
                  </a:txBody>
                  <a:tcPr marT="91425" marB="91425" marR="91425" marL="91425"/>
                </a:tc>
                <a:tc>
                  <a:txBody>
                    <a:bodyPr/>
                    <a:lstStyle/>
                    <a:p>
                      <a:pPr indent="0" lvl="0" marL="0" rtl="0" algn="ctr">
                        <a:spcBef>
                          <a:spcPts val="0"/>
                        </a:spcBef>
                        <a:spcAft>
                          <a:spcPts val="0"/>
                        </a:spcAft>
                        <a:buNone/>
                      </a:pPr>
                      <a:r>
                        <a:rPr lang="en" sz="1200">
                          <a:solidFill>
                            <a:schemeClr val="lt1"/>
                          </a:solidFill>
                        </a:rPr>
                        <a:t>Lower temperature process with lower stress</a:t>
                      </a:r>
                      <a:endParaRPr sz="1200">
                        <a:solidFill>
                          <a:schemeClr val="lt1"/>
                        </a:solidFill>
                      </a:endParaRPr>
                    </a:p>
                  </a:txBody>
                  <a:tcPr marT="91425" marB="91425" marR="91425" marL="91425"/>
                </a:tc>
              </a:tr>
            </a:tbl>
          </a:graphicData>
        </a:graphic>
      </p:graphicFrame>
      <p:sp>
        <p:nvSpPr>
          <p:cNvPr id="171" name="Google Shape;171;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Methods to Mitigate Residual Stresses</a:t>
            </a:r>
            <a:endParaRPr/>
          </a:p>
        </p:txBody>
      </p:sp>
      <p:sp>
        <p:nvSpPr>
          <p:cNvPr id="177" name="Google Shape;177;p18"/>
          <p:cNvSpPr txBox="1"/>
          <p:nvPr>
            <p:ph idx="1" type="body"/>
          </p:nvPr>
        </p:nvSpPr>
        <p:spPr>
          <a:xfrm>
            <a:off x="956100" y="1307850"/>
            <a:ext cx="7231800" cy="31710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Char char="●"/>
            </a:pPr>
            <a:r>
              <a:rPr lang="en" sz="1700"/>
              <a:t>Process Parameters for Optimization:</a:t>
            </a:r>
            <a:endParaRPr sz="1500"/>
          </a:p>
          <a:p>
            <a:pPr indent="-323850" lvl="1" marL="914400" rtl="0" algn="l">
              <a:spcBef>
                <a:spcPts val="0"/>
              </a:spcBef>
              <a:spcAft>
                <a:spcPts val="0"/>
              </a:spcAft>
              <a:buSzPts val="1500"/>
              <a:buChar char="○"/>
            </a:pPr>
            <a:r>
              <a:rPr lang="en" sz="1500"/>
              <a:t>Temperature</a:t>
            </a:r>
            <a:endParaRPr sz="1500"/>
          </a:p>
          <a:p>
            <a:pPr indent="-323850" lvl="1" marL="914400" rtl="0" algn="l">
              <a:spcBef>
                <a:spcPts val="0"/>
              </a:spcBef>
              <a:spcAft>
                <a:spcPts val="0"/>
              </a:spcAft>
              <a:buSzPts val="1500"/>
              <a:buChar char="○"/>
            </a:pPr>
            <a:r>
              <a:rPr lang="en" sz="1500"/>
              <a:t>Pressure </a:t>
            </a:r>
            <a:endParaRPr sz="1500"/>
          </a:p>
          <a:p>
            <a:pPr indent="-323850" lvl="1" marL="914400" rtl="0" algn="l">
              <a:spcBef>
                <a:spcPts val="0"/>
              </a:spcBef>
              <a:spcAft>
                <a:spcPts val="0"/>
              </a:spcAft>
              <a:buSzPts val="1500"/>
              <a:buChar char="○"/>
            </a:pPr>
            <a:r>
              <a:rPr lang="en" sz="1500"/>
              <a:t>RF Power</a:t>
            </a:r>
            <a:endParaRPr sz="1500"/>
          </a:p>
          <a:p>
            <a:pPr indent="-323850" lvl="1" marL="914400" rtl="0" algn="l">
              <a:spcBef>
                <a:spcPts val="0"/>
              </a:spcBef>
              <a:spcAft>
                <a:spcPts val="0"/>
              </a:spcAft>
              <a:buSzPts val="1500"/>
              <a:buChar char="○"/>
            </a:pPr>
            <a:r>
              <a:rPr lang="en" sz="1500"/>
              <a:t>Gas Mixture</a:t>
            </a:r>
            <a:endParaRPr sz="1500"/>
          </a:p>
          <a:p>
            <a:pPr indent="-323850" lvl="1" marL="914400" rtl="0" algn="l">
              <a:spcBef>
                <a:spcPts val="0"/>
              </a:spcBef>
              <a:spcAft>
                <a:spcPts val="0"/>
              </a:spcAft>
              <a:buSzPts val="1500"/>
              <a:buChar char="○"/>
            </a:pPr>
            <a:r>
              <a:rPr lang="en" sz="1500"/>
              <a:t>Deposition Rate</a:t>
            </a:r>
            <a:endParaRPr sz="1500"/>
          </a:p>
          <a:p>
            <a:pPr indent="-336550" lvl="0" marL="457200" rtl="0" algn="l">
              <a:spcBef>
                <a:spcPts val="0"/>
              </a:spcBef>
              <a:spcAft>
                <a:spcPts val="0"/>
              </a:spcAft>
              <a:buSzPts val="1700"/>
              <a:buChar char="●"/>
            </a:pPr>
            <a:r>
              <a:rPr lang="en" sz="1700"/>
              <a:t>Material selection and layer design</a:t>
            </a:r>
            <a:endParaRPr sz="1500"/>
          </a:p>
          <a:p>
            <a:pPr indent="-323850" lvl="1" marL="914400" rtl="0" algn="l">
              <a:spcBef>
                <a:spcPts val="0"/>
              </a:spcBef>
              <a:spcAft>
                <a:spcPts val="0"/>
              </a:spcAft>
              <a:buSzPts val="1500"/>
              <a:buChar char="○"/>
            </a:pPr>
            <a:r>
              <a:rPr lang="en" sz="1500"/>
              <a:t>Stacking material layers with different residuals stresses</a:t>
            </a:r>
            <a:endParaRPr sz="1500"/>
          </a:p>
          <a:p>
            <a:pPr indent="-323850" lvl="1" marL="914400" rtl="0" algn="l">
              <a:spcBef>
                <a:spcPts val="0"/>
              </a:spcBef>
              <a:spcAft>
                <a:spcPts val="0"/>
              </a:spcAft>
              <a:buSzPts val="1500"/>
              <a:buChar char="○"/>
            </a:pPr>
            <a:r>
              <a:rPr lang="en" sz="1500"/>
              <a:t>Adjust the stoichiometry of the deposited material</a:t>
            </a:r>
            <a:endParaRPr sz="1500"/>
          </a:p>
          <a:p>
            <a:pPr indent="-336550" lvl="0" marL="457200" rtl="0" algn="l">
              <a:spcBef>
                <a:spcPts val="0"/>
              </a:spcBef>
              <a:spcAft>
                <a:spcPts val="0"/>
              </a:spcAft>
              <a:buSzPts val="1700"/>
              <a:buChar char="●"/>
            </a:pPr>
            <a:r>
              <a:rPr lang="en" sz="1700"/>
              <a:t>Annealing</a:t>
            </a:r>
            <a:endParaRPr sz="1500"/>
          </a:p>
          <a:p>
            <a:pPr indent="-323850" lvl="1" marL="914400" rtl="0" algn="l">
              <a:spcBef>
                <a:spcPts val="0"/>
              </a:spcBef>
              <a:spcAft>
                <a:spcPts val="0"/>
              </a:spcAft>
              <a:buSzPts val="1500"/>
              <a:buChar char="○"/>
            </a:pPr>
            <a:r>
              <a:rPr lang="en" sz="1500"/>
              <a:t>Temperature Profile</a:t>
            </a:r>
            <a:endParaRPr sz="1500"/>
          </a:p>
          <a:p>
            <a:pPr indent="0" lvl="0" marL="457200" rtl="0" algn="l">
              <a:spcBef>
                <a:spcPts val="1200"/>
              </a:spcBef>
              <a:spcAft>
                <a:spcPts val="1200"/>
              </a:spcAft>
              <a:buNone/>
            </a:pPr>
            <a:r>
              <a:t/>
            </a:r>
            <a:endParaRPr sz="1700"/>
          </a:p>
        </p:txBody>
      </p:sp>
      <p:pic>
        <p:nvPicPr>
          <p:cNvPr id="178" name="Google Shape;178;p18"/>
          <p:cNvPicPr preferRelativeResize="0"/>
          <p:nvPr/>
        </p:nvPicPr>
        <p:blipFill>
          <a:blip r:embed="rId3">
            <a:alphaModFix/>
          </a:blip>
          <a:stretch>
            <a:fillRect/>
          </a:stretch>
        </p:blipFill>
        <p:spPr>
          <a:xfrm>
            <a:off x="6935100" y="1454800"/>
            <a:ext cx="1873925" cy="2877101"/>
          </a:xfrm>
          <a:prstGeom prst="rect">
            <a:avLst/>
          </a:prstGeom>
          <a:noFill/>
          <a:ln>
            <a:noFill/>
          </a:ln>
        </p:spPr>
      </p:pic>
      <p:sp>
        <p:nvSpPr>
          <p:cNvPr id="179" name="Google Shape;179;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600"/>
              <a:t>Milestones and Future Plans</a:t>
            </a:r>
            <a:endParaRPr sz="3600"/>
          </a:p>
        </p:txBody>
      </p:sp>
      <p:sp>
        <p:nvSpPr>
          <p:cNvPr id="185" name="Google Shape;185;p19"/>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Studied the different semiconductor fabrication processes</a:t>
            </a:r>
            <a:endParaRPr sz="1600"/>
          </a:p>
          <a:p>
            <a:pPr indent="-330200" lvl="1" marL="914400" rtl="0" algn="l">
              <a:spcBef>
                <a:spcPts val="0"/>
              </a:spcBef>
              <a:spcAft>
                <a:spcPts val="0"/>
              </a:spcAft>
              <a:buSzPts val="1600"/>
              <a:buChar char="-"/>
            </a:pPr>
            <a:r>
              <a:rPr lang="en" sz="1600"/>
              <a:t>Deposition</a:t>
            </a:r>
            <a:endParaRPr sz="1600"/>
          </a:p>
          <a:p>
            <a:pPr indent="-330200" lvl="1" marL="914400" rtl="0" algn="l">
              <a:spcBef>
                <a:spcPts val="0"/>
              </a:spcBef>
              <a:spcAft>
                <a:spcPts val="0"/>
              </a:spcAft>
              <a:buSzPts val="1600"/>
              <a:buChar char="-"/>
            </a:pPr>
            <a:r>
              <a:rPr lang="en" sz="1600"/>
              <a:t>Photolithography</a:t>
            </a:r>
            <a:endParaRPr sz="1600"/>
          </a:p>
          <a:p>
            <a:pPr indent="-330200" lvl="1" marL="914400" rtl="0" algn="l">
              <a:spcBef>
                <a:spcPts val="0"/>
              </a:spcBef>
              <a:spcAft>
                <a:spcPts val="0"/>
              </a:spcAft>
              <a:buSzPts val="1600"/>
              <a:buChar char="-"/>
            </a:pPr>
            <a:r>
              <a:rPr lang="en" sz="1600"/>
              <a:t>Etching</a:t>
            </a:r>
            <a:endParaRPr sz="1600"/>
          </a:p>
          <a:p>
            <a:pPr indent="-330200" lvl="0" marL="457200" rtl="0" algn="l">
              <a:spcBef>
                <a:spcPts val="0"/>
              </a:spcBef>
              <a:spcAft>
                <a:spcPts val="0"/>
              </a:spcAft>
              <a:buSzPts val="1600"/>
              <a:buChar char="-"/>
            </a:pPr>
            <a:r>
              <a:rPr lang="en" sz="1600"/>
              <a:t>Conducted a literature study of the residual stress in thin-films</a:t>
            </a:r>
            <a:endParaRPr sz="1600"/>
          </a:p>
          <a:p>
            <a:pPr indent="-330200" lvl="0" marL="457200" rtl="0" algn="l">
              <a:spcBef>
                <a:spcPts val="0"/>
              </a:spcBef>
              <a:spcAft>
                <a:spcPts val="0"/>
              </a:spcAft>
              <a:buSzPts val="1600"/>
              <a:buChar char="-"/>
            </a:pPr>
            <a:r>
              <a:rPr lang="en" sz="1600"/>
              <a:t>Future plans</a:t>
            </a:r>
            <a:endParaRPr sz="1600"/>
          </a:p>
          <a:p>
            <a:pPr indent="-330200" lvl="1" marL="914400" rtl="0" algn="l">
              <a:spcBef>
                <a:spcPts val="0"/>
              </a:spcBef>
              <a:spcAft>
                <a:spcPts val="0"/>
              </a:spcAft>
              <a:buSzPts val="1600"/>
              <a:buChar char="-"/>
            </a:pPr>
            <a:r>
              <a:rPr lang="en" sz="1600"/>
              <a:t>Obtain training in the AggieFab  on facilities and processes</a:t>
            </a:r>
            <a:endParaRPr sz="1600"/>
          </a:p>
          <a:p>
            <a:pPr indent="-330200" lvl="1" marL="914400" rtl="0" algn="l">
              <a:spcBef>
                <a:spcPts val="0"/>
              </a:spcBef>
              <a:spcAft>
                <a:spcPts val="0"/>
              </a:spcAft>
              <a:buSzPts val="1600"/>
              <a:buChar char="-"/>
            </a:pPr>
            <a:r>
              <a:rPr lang="en" sz="1600"/>
              <a:t>Conduct thin-film deposition experiments</a:t>
            </a:r>
            <a:endParaRPr sz="1600"/>
          </a:p>
          <a:p>
            <a:pPr indent="-330200" lvl="1" marL="914400" rtl="0" algn="l">
              <a:spcBef>
                <a:spcPts val="0"/>
              </a:spcBef>
              <a:spcAft>
                <a:spcPts val="0"/>
              </a:spcAft>
              <a:buSzPts val="1600"/>
              <a:buChar char="-"/>
            </a:pPr>
            <a:r>
              <a:rPr lang="en" sz="1600"/>
              <a:t>Characterize the thin-film stress level</a:t>
            </a:r>
            <a:endParaRPr sz="1600"/>
          </a:p>
          <a:p>
            <a:pPr indent="-330200" lvl="1" marL="914400" rtl="0" algn="l">
              <a:spcBef>
                <a:spcPts val="0"/>
              </a:spcBef>
              <a:spcAft>
                <a:spcPts val="0"/>
              </a:spcAft>
              <a:buSzPts val="1600"/>
              <a:buChar char="-"/>
            </a:pPr>
            <a:r>
              <a:rPr lang="en" sz="1600"/>
              <a:t>Study the optimization procedures and methods</a:t>
            </a:r>
            <a:endParaRPr sz="1600"/>
          </a:p>
        </p:txBody>
      </p:sp>
      <p:sp>
        <p:nvSpPr>
          <p:cNvPr id="186" name="Google Shape;18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